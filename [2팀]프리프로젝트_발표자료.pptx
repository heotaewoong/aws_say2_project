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Rare-Link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A896"/>
                </a:solidFill>
                <a:latin typeface="Calibri"/>
              </a:defRPr>
            </a:pPr>
            <a:r>
              <a:t>멀티모달 희귀 폐 질환 진단 보조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AWS 바이오헬스케어 성균관대학교 2기  |  2팀 Pre-Project</a:t>
            </a:r>
          </a:p>
          <a:p>
            <a:pPr>
              <a:spcAft>
                <a:spcPts val="480"/>
              </a:spcAft>
              <a:defRPr sz="1600" b="0">
                <a:solidFill>
                  <a:srgbClr val="6B7B8D"/>
                </a:solidFill>
                <a:latin typeface="Calibri"/>
              </a:defRPr>
            </a:pPr>
            <a:r>
              <a:t>2026.03.19 ~ 2026.04.13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박성수(팀장)  |  허태웅  |  양희인  |  배기태  |  권미라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Mentor: 이희찬 (AWS AINATION)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WHY? 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희귀 폐 질환 진단의 어려움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1. 전문의 부족으로 인한 진단 지연</a:t>
            </a:r>
          </a:p>
          <a:p>
            <a:pPr>
              <a:spcAft>
                <a:spcPts val="48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2. 희귀질환 5,000종 중 폐 관련 536종</a:t>
            </a:r>
          </a:p>
          <a:p>
            <a:pPr>
              <a:spcAft>
                <a:spcPts val="48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3. X-ray 단독으로는 진단 한계</a:t>
            </a:r>
          </a:p>
          <a:p>
            <a:pPr>
              <a:spcAft>
                <a:spcPts val="48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  <a:r>
              <a:t>4. 환자 평균 5~7년 진단 소요</a:t>
            </a:r>
          </a:p>
          <a:p>
            <a:pPr>
              <a:spcAft>
                <a:spcPts val="480"/>
              </a:spcAft>
              <a:defRPr sz="1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단일 모달리티(영상만)로는 부족</a:t>
            </a: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t>→ 멀티모달 통합이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Rare-Link AI 접근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 b="1">
                <a:solidFill>
                  <a:srgbClr val="028090"/>
                </a:solidFill>
                <a:latin typeface="Calibri"/>
              </a:defRPr>
            </a:pPr>
            <a:r>
              <a:t>X-ray 영상 분석 (Vision Agent)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  DenseNet-121 → 14개 병변 확률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028090"/>
                </a:solidFill>
                <a:latin typeface="Calibri"/>
              </a:defRPr>
            </a:pPr>
            <a:r>
              <a:t>임상 소견서 분석 (NLP Agent)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  LLM(llama3.1) → HPO 코드 추출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028090"/>
                </a:solidFill>
                <a:latin typeface="Calibri"/>
              </a:defRPr>
            </a:pPr>
            <a:r>
              <a:t>혈액검사 분석 (Lab Agent)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  <a:r>
              <a:t>  이상 수치 → HPO 코드 매핑</a:t>
            </a:r>
          </a:p>
          <a:p>
            <a:pPr>
              <a:spcAft>
                <a:spcPts val="450"/>
              </a:spcAft>
              <a:defRPr sz="15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27AE60"/>
                </a:solidFill>
                <a:latin typeface="Calibri"/>
              </a:defRPr>
            </a:pPr>
            <a:r>
              <a:t>→ HPO 통합 → Orphanet 매칭 → 리포트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SYSTEM 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377440" cy="3017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3774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A: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흉부 X-ray</a:t>
            </a:r>
            <a:br/>
            <a:r>
              <a:t>→ 14개 병변 확률</a:t>
            </a:r>
            <a:br/>
            <a:r>
              <a:t>→ HPO 코드</a:t>
            </a:r>
            <a:br/>
            <a:r>
              <a:t>→ Grad-CAM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377440" cy="3017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3774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17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B: 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의사 소견서</a:t>
            </a:r>
            <a:br/>
            <a:r>
              <a:t>→ LLM (llama3.1)</a:t>
            </a:r>
            <a:br/>
            <a:r>
              <a:t>→ HPO 코드 추출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377440" cy="3017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C: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혈액검사 수치</a:t>
            </a:r>
            <a:br/>
            <a:r>
              <a:t>→ 정상범위 비교</a:t>
            </a:r>
            <a:br/>
            <a:r>
              <a:t>→ HPO 코드 매핑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743200" cy="1280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274320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417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E: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1945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HPO 통합</a:t>
            </a:r>
            <a:br/>
            <a:r>
              <a:t>→ Orphanet IDF</a:t>
            </a:r>
            <a:br/>
            <a:r>
              <a:t>  가중 매칭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926080"/>
            <a:ext cx="274320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29260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971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D: Reporter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74903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의사용 임상 리포트</a:t>
            </a:r>
            <a:br/>
            <a:r>
              <a:t>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Calibri"/>
              </a:defRPr>
            </a:pPr>
            <a:r>
              <a:t>데이터: MIMIC-CXR (227K 영상)  |  MIMIC-IV (76K 환자 Lab)  |  CheXpert (224K 영상)  |  Orphanet (536 폐질환)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Streamlit 웹 대시보드 (app.py) — 실시간 분석 및 리포트 다운로드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MODEL  Vision 모델 상세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Calibri"/>
              </a:defRPr>
            </a:pPr>
            <a:r>
              <a:t>DenseNet-121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DenseNet-121 (ImageNet-1K)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448 x 448 RGB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260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14개 병변 sigmoid (Multi-Label)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BCE + pos_weight + -1 마스킹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Adam (lr=1e-4)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ReduceLROnPlateau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SageMaker ml.g4dn.16xlarge Spot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Calibri"/>
              </a:defRPr>
            </a:pPr>
            <a:r>
              <a:t>GPU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834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4x NVIDIA T4 (64GB VRAM)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5029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Calibri"/>
              </a:defRPr>
            </a:pPr>
            <a:r>
              <a:t>전처리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1. CLAHE 대비 강화 (clipLimit=2.0)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2. 448x448 Resize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3. ImageNet Normalize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4. RandomHorizontalFlip (학습 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49039"/>
            <a:ext cx="5029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Calibri"/>
              </a:defRPr>
            </a:pPr>
            <a:r>
              <a:t>데이터 불균형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805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No Finding 언더샘플링 (→ 5,000장)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WeightedRandomSampler (희귀질환 오버샘플링)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pos_weight (양/음 비율, 상한 5.0)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-1 라벨 마스킹 (불확실 제외)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Per-class F1 최적 임계값 자동 탐색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RESULTS  14클래스 실험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7315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차수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80160"/>
            <a:ext cx="18288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주요 변경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109728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mAUROC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280160"/>
            <a:ext cx="109728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18288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비고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737360"/>
            <a:ext cx="7315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7556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1737360"/>
            <a:ext cx="1828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737360"/>
            <a:ext cx="27432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755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CLAHE + pos_weight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37360"/>
            <a:ext cx="109728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0.7257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737360"/>
            <a:ext cx="109728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737360"/>
            <a:ext cx="1828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Epoch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148840"/>
            <a:ext cx="731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1671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3차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21488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2167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214884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167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+WeightedRandomSampler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14884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167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0.7285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14884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21671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14884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2167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Epoch 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2560320"/>
            <a:ext cx="73152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25786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4차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63040" y="2560320"/>
            <a:ext cx="182880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220K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2560320"/>
            <a:ext cx="274320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78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전체 데이터 스케일업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560320"/>
            <a:ext cx="109728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578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0.7699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0" y="2560320"/>
            <a:ext cx="109728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2578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2560320"/>
            <a:ext cx="182880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Best AUROC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2971800"/>
            <a:ext cx="731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2990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5차a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63040" y="29718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3040" y="2990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ConvNeXt-L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297180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2990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대형 백본 시도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297180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29900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2971800"/>
            <a:ext cx="10972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0" y="29900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2971800"/>
            <a:ext cx="1828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29900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Focal Loss 실패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3383280"/>
            <a:ext cx="73152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34015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5차b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63040" y="3383280"/>
            <a:ext cx="1828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3040" y="3401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Balanced CSV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3383280"/>
            <a:ext cx="27432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사전분리 CSV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3383280"/>
            <a:ext cx="109728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0.7635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3383280"/>
            <a:ext cx="109728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0.4778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3383280"/>
            <a:ext cx="1828800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3401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2D"/>
                </a:solidFill>
                <a:latin typeface="Calibri"/>
              </a:defRPr>
            </a:pPr>
            <a:r>
              <a:t>Best F1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0" y="39319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핵심 발견:  데이터 스케일업(20K → 220K)이 mAUROC +0.044로 가장 큰 성능 향상.  Balanced CSV는 F1/Precision/Recall 대폭 개선.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846320"/>
            <a:ext cx="50292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2클래스 분류 (PE vs Pneumothorax)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7280" y="5394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AUROC: 0.8863  |  F1: 0.8101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Precision: 0.8205  |  Recall: 0.8000</a:t>
            </a:r>
          </a:p>
          <a:p>
            <a:pPr>
              <a:spcAft>
                <a:spcPts val="42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학습: 1,600장 (800+800 완전 균형)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4846320"/>
            <a:ext cx="50292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Calibri"/>
              </a:defRPr>
            </a:pPr>
            <a:r>
              <a:t>3클래스 분류 (ED/LO/PN)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5394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mAUROC: 0.7581 (재검증 필요)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데이터: 2,200장 x 3클래스</a:t>
            </a:r>
          </a:p>
          <a:p>
            <a:pPr>
              <a:spcAft>
                <a:spcPts val="42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기존 PE/LO/CO → 임상적 혼동으로 변경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LESSONS  실패 분석 및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371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ASL (Asymmetric Loss)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결과: Loss가 0으로 수렴, 학습 중단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19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원인: MIMIC 노이즈 라벨 + 극단적 음성 우세로 gradient 소멸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515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14600"/>
            <a:ext cx="1371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Focal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결과: Gradient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원인: 동일 원인. 감마(gamma) 파라미터 조정도 실패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371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ConvNeXt-L (198M params)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결과: 학습 불안정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862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원인: 과적합 + Focal Loss 결합으로 인한 복합 실패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83480"/>
            <a:ext cx="10515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983480"/>
            <a:ext cx="1371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3클래스 실험1 (PE/LO/CO)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결과: mAUROC 0.69 (저조)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1206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원인: Consolidation ↔ Lung Opacity 영상적 유사성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7607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1">
                <a:solidFill>
                  <a:srgbClr val="27AE60"/>
                </a:solidFill>
                <a:latin typeface="Calibri"/>
              </a:defRPr>
            </a:pPr>
            <a:r>
              <a:t>교훈: MIMIC-CXR처럼 NLP 추출 라벨(노이즈 多) 데이터에서는 안정적 손실함수(BCE + pos_weight)가 필수.</a:t>
            </a:r>
          </a:p>
          <a:p>
            <a:pPr>
              <a:spcAft>
                <a:spcPts val="42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고급 손실함수(Focal/ASL)는 클린 라벨 데이터에서만 효과적.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INFRA  AWS 인프라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SageMaker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E0"/>
                </a:solidFill>
                <a:latin typeface="Calibri"/>
              </a:defRPr>
            </a:pPr>
            <a:r>
              <a:t>GPU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ml.g4dn.16xlarge Spot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4x NVIDIA T4 (64GB)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체크포인트 자동 저장/복원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비용 최적화 (Spot 70% 절감)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54880"/>
            <a:ext cx="3017520" cy="3657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6C00"/>
                </a:solidFill>
                <a:latin typeface="Calibri"/>
              </a:defRPr>
            </a:pPr>
            <a:r>
              <a:t>Tag: pre-sagemaker-2-2-team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280160"/>
            <a:ext cx="33832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280160"/>
            <a:ext cx="338328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E0"/>
                </a:solidFill>
                <a:latin typeface="Calibri"/>
              </a:defRPr>
            </a:pPr>
            <a:r>
              <a:t>데이터 저장소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MIMIC-CXR 448px 이미지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균형 CSV 데이터셋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학습된 모델 가중치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버킷: say2-2team-bucket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754880"/>
            <a:ext cx="3017520" cy="3657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773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6C00"/>
                </a:solidFill>
                <a:latin typeface="Calibri"/>
              </a:defRPr>
            </a:pPr>
            <a:r>
              <a:t>Tag: pre-s3-2-2-team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3832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3383280" cy="7315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D0E0"/>
                </a:solidFill>
                <a:latin typeface="Calibri"/>
              </a:defRPr>
            </a:pPr>
            <a:r>
              <a:t>개발 환경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모델 개발 및 디버깅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전처리 파이프라인 테스트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Streamlit 웹앱 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보안그룹: launch-wizard-5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754880"/>
            <a:ext cx="3017520" cy="36576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773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6C00"/>
                </a:solidFill>
                <a:latin typeface="Calibri"/>
              </a:defRPr>
            </a:pPr>
            <a:r>
              <a:t>Tag: pre-ec2-2-2-team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IAM Role: SKKU_SageMaker_Role  |  Region: ap-northeast-2 (서울)  |  현재 태그 기준 비용: ~$10/month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VISION  SooNetEngine (연구 브랜치)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22860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80160"/>
            <a:ext cx="3657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mini_project (서비스)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280160"/>
            <a:ext cx="3657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vision 브랜치 (연구)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737360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1783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입력 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RGB 3채널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737360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Grayscale 1채널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176272"/>
            <a:ext cx="2286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39" y="22219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해상도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176272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2219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256 → 224px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176272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2219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448 x 448px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2615184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39" y="266090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전처리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615184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66090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ImageNet Normalize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615184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660903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TXV 스케일링 (px*2048-1024)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054096"/>
            <a:ext cx="2286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39" y="309981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CLAHE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054096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099815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054096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099815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적용 (clipLimit=2.0)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3493008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39" y="353872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U-Net 폐 분할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3493008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35387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없음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3493008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5387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포함 (마스크 크롭)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3931920"/>
            <a:ext cx="2286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39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학습 데이터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3931920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39776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MIMIC-CXR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931920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39776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MIMIC + CheXpert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4370831"/>
            <a:ext cx="2286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34439" y="441655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Grad-CAM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4370831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441655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224px 출력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4370831"/>
            <a:ext cx="3657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78040" y="441655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448px 고해상도 출력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97280" y="4809744"/>
            <a:ext cx="2286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34439" y="48554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D2D"/>
                </a:solidFill>
                <a:latin typeface="Calibri"/>
              </a:defRPr>
            </a:pPr>
            <a:r>
              <a:t>HPO 매핑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4809744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4855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일부 중복 코드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4809744"/>
            <a:ext cx="36576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4855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28090"/>
                </a:solidFill>
                <a:latin typeface="Calibri"/>
              </a:defRPr>
            </a:pPr>
            <a:r>
              <a:t>정확한 HPO 코드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7280" y="539496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사전학습 가중치: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58064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chexnet_1ch_448_chexpert_best.pth  |  chexnet_mimic_best.pth  |  chexnet_chexpert_frontal_best.pth  |  unet_lung_mask_ep10.pth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NEXT  Final 단계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3832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모델 성능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모델 병합 (서비스+연구)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EfficientNet-B4 백본 시도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Label Smoothing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LDAM-DRW Loss 도입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2/3/5 클래스 앙상블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280160"/>
            <a:ext cx="338328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280160"/>
            <a:ext cx="3383280" cy="6400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데이터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CheXpert + MIMIC 통합 (450K)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Orphanet DB 정확도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Radiology 소견 누락분 보충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희귀질환 관련 유전인자 보강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데이터 증강 강화 (MixUp)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38328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338328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325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시스템 고도화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정상탐지 모델 전단 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증상 그룹별 분리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아키텍처 최종 확정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Streamlit → 배포 최적화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  보안 (HIPAA 준수) 검토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14476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4/13 중간자료 제출  →  4/16 중간발표  →  FINAL 시작  →  5/25 최종자료 제출  →  5/28 최종발표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A896"/>
                </a:solidFill>
                <a:latin typeface="Calibri"/>
              </a:defRPr>
            </a:pPr>
            <a:r>
              <a:t>Rare-Link AI  |  2팀 Pre-Project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박성수(팀장)  |  허태웅  |  양희인  |  배기태  |  권미라</a:t>
            </a:r>
          </a:p>
          <a:p>
            <a:pPr>
              <a:spcAft>
                <a:spcPts val="42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GitHub: github.com/Milk-Case/mini_project</a:t>
            </a:r>
          </a:p>
          <a:p>
            <a:pPr>
              <a:spcAft>
                <a:spcPts val="420"/>
              </a:spcAft>
              <a:defRPr sz="1400" b="0">
                <a:solidFill>
                  <a:srgbClr val="6B7B8D"/>
                </a:solidFill>
                <a:latin typeface="Calibri"/>
              </a:defRPr>
            </a:pPr>
            <a:r>
              <a:t>Mentor: 이희찬 (AWS AINATION)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